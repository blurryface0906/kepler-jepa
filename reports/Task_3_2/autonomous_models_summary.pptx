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16681d62b7450d" /><Relationship Type="http://schemas.openxmlformats.org/officeDocument/2006/relationships/extended-properties" Target="/docProps/app.xml" Id="Rfa29ae63bef442e0" /><Relationship Type="http://schemas.openxmlformats.org/officeDocument/2006/relationships/officeDocument" Target="/ppt/presentation.xml" Id="R2f3fbff4e7ca45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9cb94ed8ec4898"/>
  </p:sldMasterIdLst>
  <p:notesMasterIdLst>
    <p:notesMasterId xmlns:r="http://schemas.openxmlformats.org/officeDocument/2006/relationships" r:id="Raa33df9468504e8f"/>
  </p:notesMasterIdLst>
  <p:sldIdLst>
    <p:sldId xmlns:r="http://schemas.openxmlformats.org/officeDocument/2006/relationships" id="256" r:id="R025c0215534045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9971202710474d" /><Relationship Type="http://schemas.openxmlformats.org/officeDocument/2006/relationships/slideMaster" Target="/ppt/slideMasters/slideMaster1.xml" Id="R889cb94ed8ec4898" /><Relationship Type="http://schemas.openxmlformats.org/officeDocument/2006/relationships/notesMaster" Target="/ppt/notesMasters/notesMaster1.xml" Id="Raa33df9468504e8f" /><Relationship Type="http://schemas.openxmlformats.org/officeDocument/2006/relationships/presProps" Target="/ppt/presProps.xml" Id="R8b4080a82db4412b" /><Relationship Type="http://schemas.openxmlformats.org/officeDocument/2006/relationships/tableStyles" Target="/ppt/tableStyles.xml" Id="Re118549b18f54b19" /><Relationship Type="http://schemas.openxmlformats.org/officeDocument/2006/relationships/slide" Target="/ppt/slides/slide1.xml" Id="R025c0215534045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3d064b937a49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fda6da2e24433a" /><Relationship Type="http://schemas.openxmlformats.org/officeDocument/2006/relationships/notesMaster" Target="/ppt/notesMasters/notesMaster1.xml" Id="R0b294b7c531e40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Сводка автономного прогноза на круговых орбитах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Круговые ID-орбиты, оцениватель `S3b_diff`. Основные числа — **T3**: наклон указан как среднее ± выборочное стандартное отклонение по пяти сидам (42–46), R² — среднее по пяти сидам. Результаты T4 отмечены отдельно. Прогноз запускается из одного начального окна, закодированного в z₀.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Модель |           Наклон — эталон −1.500 |       Качество R² |</a:t>
            </a:r>
          </a:p>
          <a:p xmlns:a="http://schemas.openxmlformats.org/drawingml/2006/main">
            <a:r>
              <a:t>|---|---------------------------------:|------------------:|</a:t>
            </a:r>
          </a:p>
          <a:p xmlns:a="http://schemas.openxmlformats.org/drawingml/2006/main">
            <a:r>
              <a:t>| **Random (без обучения)** |                   +0.004 ± 0.014 |             0.122 |</a:t>
            </a:r>
          </a:p>
          <a:p xmlns:a="http://schemas.openxmlformats.org/drawingml/2006/main">
            <a:r>
              <a:t>| **1D I-JEPA (`M1`)** |               **−1.499 ± 0.003** |      **0.999986** |</a:t>
            </a:r>
          </a:p>
          <a:p xmlns:a="http://schemas.openxmlformats.org/drawingml/2006/main">
            <a:r>
              <a:t>| **JEPA-Anything (`M2`)** | −1.668 ± 0.191 (−1.466 ± 0.006)* | 0.897 (0.999409)* |</a:t>
            </a:r>
          </a:p>
          <a:p xmlns:a="http://schemas.openxmlformats.org/drawingml/2006/main">
            <a:r>
              <a:t>| **SIGReg (`M3`)** |                   −1.601 ± 1.254 |             0.364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Примечания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**\*** Переход **Task 3.1 → Task 3.2**: масштабно-инвариантный OPF и сопутствующие изменения функции потерь. Улучшение нельзя приписать исключительно одному изменению OPF.</a:t>
            </a:r>
          </a:p>
          <a:p xmlns:a="http://schemas.openxmlformats.org/drawingml/2006/main">
            <a:r>
              <a:t>- `PASS` означает выполнение частотных критериев на каждом сиде: `abs(slope + 1.5) &lt; 0.05`, `R² &gt; 0.99`, `invalid = 0`. Ошибка абсолютной частоты приводится дополнительно и не входит в эти критерии.</a:t>
            </a:r>
          </a:p>
          <a:p xmlns:a="http://schemas.openxmlformats.org/drawingml/2006/main">
            <a:r>
              <a:t>- У M1 худшая ошибка абсолютной частоты на `T4_64` — **1.06%**, поэтому «&lt;1%» относится к T3/T4_512. У M2 после исправлений она составляет **9.91%** в T3/T4_512 и **21.23%** в T4_64.</a:t>
            </a:r>
          </a:p>
          <a:p xmlns:a="http://schemas.openxmlformats.org/drawingml/2006/main">
            <a:r>
              <a:t>- T3 — последовательный одношаговый роллаут; T4 — прямые прогнозы из z₀. Для данного вращательного предиктора T3 и T4_512 связаны архитектурой и не являются независимыми подтверждениями закона. Оценивание на коротком T4_64 дополнительно чувствительно к длине окна и PCA-проекции.</a:t>
            </a:r>
          </a:p>
          <a:p xmlns:a="http://schemas.openxmlformats.org/drawingml/2006/main">
            <a:r>
              <a:t>- Нормализация M3 удаляет зависимость **нормы** от a, но не обязательно всю информацию об a из полного представления.</a:t>
            </a:r>
          </a:p>
          <a:p xmlns:a="http://schemas.openxmlformats.org/drawingml/2006/main">
            <a:r>
              <a:t>- Названия M1/M2 обозначают наши контролируемые реализации, а не точное воспроизведение полных архитектур статей. Результаты этой таблицы относятся к круговым ID-орбитам; перенос на другие условия проверяется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[отчёт Task 3.2](task3_2_analysis.md), [отчёт Task 3.1](../Task_3_1/task3_1_analysis.md).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e026665d548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b703349cc48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8c952ecf74a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16b55de2846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d654e6f1440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4e2afc22c4d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FC2743-7B23-433B-AB47-06A5C8E77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28F7C9-3576-451B-9C33-06320EC637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59207A-4359-4CD9-9BBD-6E8F0C7105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4B2218-8520-4875-8DBD-22D957A92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DC400B-5097-4C84-B7AF-800A5992B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7D17E5-EE0F-45A8-8D00-4CFC76CCB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AB45B3-DD66-463A-94BB-08874BBC8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F47AE7-2907-4C07-89BA-4AF7B60253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9325F2-DCBD-4A88-906C-BF4C59BDF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572CAF-D86F-4753-AAE6-6C8C11EDE9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98cc05f61845bd" /><Relationship Type="http://schemas.openxmlformats.org/officeDocument/2006/relationships/slideLayout" Target="/ppt/slideLayouts/slideLayout1.xml" Id="R6e2d9c9d108a4802" /><Relationship Type="http://schemas.openxmlformats.org/officeDocument/2006/relationships/slideLayout" Target="/ppt/slideLayouts/slideLayout2.xml" Id="Ra455aaeb406b433a" /><Relationship Type="http://schemas.openxmlformats.org/officeDocument/2006/relationships/slideLayout" Target="/ppt/slideLayouts/slideLayout3.xml" Id="R674b90b970a0480b" /><Relationship Type="http://schemas.openxmlformats.org/officeDocument/2006/relationships/slideLayout" Target="/ppt/slideLayouts/slideLayout4.xml" Id="Rd2f17dd243c64b40" /><Relationship Type="http://schemas.openxmlformats.org/officeDocument/2006/relationships/slideLayout" Target="/ppt/slideLayouts/slideLayout5.xml" Id="Rb9bcaee90fc74b2f" /><Relationship Type="http://schemas.openxmlformats.org/officeDocument/2006/relationships/slideLayout" Target="/ppt/slideLayouts/slideLayout6.xml" Id="R98b4ece973154b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2d9c9d108a4802"/>
    <p:sldLayoutId xmlns:r="http://schemas.openxmlformats.org/officeDocument/2006/relationships" id="2147483650" r:id="Ra455aaeb406b433a"/>
    <p:sldLayoutId xmlns:r="http://schemas.openxmlformats.org/officeDocument/2006/relationships" id="2147483651" r:id="R674b90b970a0480b"/>
    <p:sldLayoutId xmlns:r="http://schemas.openxmlformats.org/officeDocument/2006/relationships" id="2147483652" r:id="Rd2f17dd243c64b40"/>
    <p:sldLayoutId xmlns:r="http://schemas.openxmlformats.org/officeDocument/2006/relationships" id="2147483653" r:id="Rb9bcaee90fc74b2f"/>
    <p:sldLayoutId xmlns:r="http://schemas.openxmlformats.org/officeDocument/2006/relationships" id="2147483654" r:id="R98b4ece973154b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8a19dc5fa4fa4" /><Relationship Type="http://schemas.openxmlformats.org/officeDocument/2006/relationships/notesSlide" Target="/ppt/notesSlides/notesSlide1.xml" Id="Rb105798239db4f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14BACEC-7965-48CD-85A1-9CC5DC46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225" b="1">
                <a:solidFill>
                  <a:srgbClr val="1427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73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73F"/>
                </a:solidFill>
                <a:latin typeface="Arial"/>
                <a:ea typeface="Arial"/>
                <a:cs typeface="Arial"/>
              </a:rPr>
              <a:t>Автономный прогноз на круговых орбитах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7956084D-E8F6-4D15-8588-A99362C9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T3 из одного окна z₀ · ID-орбиты · 5 сидов · оцениватель S3b_diff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23A42-B097-478C-BD57-81C2EDFA50A7}"/>
              </a:ext>
            </a:extLst>
          </p:cNvPr>
          <p:cNvGraphicFramePr/>
          <p:nvPr/>
        </p:nvGraphicFramePr>
        <p:xfrm>
          <a:off xmlns:a="http://schemas.openxmlformats.org/drawingml/2006/main" x="533400" y="1552575"/>
          <a:ext xmlns:a="http://schemas.openxmlformats.org/drawingml/2006/main" cx="11125200" cy="36004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4191000"/>
                <a:gridCol w="4171950"/>
                <a:gridCol w="2762250"/>
              </a:tblGrid>
              <a:tr h="628650"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0E8"/>
                      </a:solidFill>
                      <a:prstDash val="solid"/>
                    </a:lnL>
                    <a:lnR w="7620">
                      <a:solidFill>
                        <a:srgbClr val="D9E0E8"/>
                      </a:solidFill>
                      <a:prstDash val="solid"/>
                    </a:lnR>
                    <a:lnT w="7620">
                      <a:solidFill>
                        <a:srgbClr val="D9E0E8"/>
                      </a:solidFill>
                      <a:prstDash val="solid"/>
                    </a:lnT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19334F"/>
                    </a:solidFill>
                  </a:tcPr>
                </a:tc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Наклон</a:t>
                      </a:r>
                    </a:p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эталон −1.500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0E8"/>
                      </a:solidFill>
                      <a:prstDash val="solid"/>
                    </a:lnR>
                    <a:lnT w="7620">
                      <a:solidFill>
                        <a:srgbClr val="D9E0E8"/>
                      </a:solidFill>
                      <a:prstDash val="solid"/>
                    </a:lnT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19334F"/>
                    </a:solidFill>
                  </a:tcPr>
                </a:tc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Качество R²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0E8"/>
                      </a:solidFill>
                      <a:prstDash val="solid"/>
                    </a:lnR>
                    <a:lnT w="7620">
                      <a:solidFill>
                        <a:srgbClr val="D9E0E8"/>
                      </a:solidFill>
                      <a:prstDash val="solid"/>
                    </a:lnT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19334F"/>
                    </a:solidFill>
                  </a:tcPr>
                </a:tc>
              </a:tr>
              <a:tr h="742950"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Random (M0_Koopman)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без обучения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0E8"/>
                      </a:solidFill>
                      <a:prstDash val="solid"/>
                    </a:lnL>
                    <a:lnR w="7620">
                      <a:solidFill>
                        <a:srgbClr val="D9E0E8"/>
                      </a:solidFill>
                      <a:prstDash val="solid"/>
                    </a:lnR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+0.004 ± 0.014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0E8"/>
                      </a:solidFill>
                      <a:prstDash val="solid"/>
                    </a:lnR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0.122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0E8"/>
                      </a:solidFill>
                      <a:prstDash val="solid"/>
                    </a:lnR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1D I-JEPA (M1)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0E8"/>
                      </a:solidFill>
                      <a:prstDash val="solid"/>
                    </a:lnL>
                    <a:lnR w="7620">
                      <a:solidFill>
                        <a:srgbClr val="D9E0E8"/>
                      </a:solidFill>
                      <a:prstDash val="solid"/>
                    </a:lnR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−1.499 ± 0.003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0E8"/>
                      </a:solidFill>
                      <a:prstDash val="solid"/>
                    </a:lnR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0.999986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0E8"/>
                      </a:solidFill>
                      <a:prstDash val="solid"/>
                    </a:lnR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EDF5FA"/>
                    </a:solidFill>
                  </a:tcPr>
                </a:tc>
              </a:tr>
              <a:tr h="742950"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JEPA-Anything / OPF (M2)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0E8"/>
                      </a:solidFill>
                      <a:prstDash val="solid"/>
                    </a:lnL>
                    <a:lnR w="7620">
                      <a:solidFill>
                        <a:srgbClr val="D9E0E8"/>
                      </a:solidFill>
                      <a:prstDash val="solid"/>
                    </a:lnR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−1.668 ± 0.191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(−1.466 ± 0.006)*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0E8"/>
                      </a:solidFill>
                      <a:prstDash val="solid"/>
                    </a:lnR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0.897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(0.999409)*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0E8"/>
                      </a:solidFill>
                      <a:prstDash val="solid"/>
                    </a:lnR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SIGReg (M3)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0E8"/>
                      </a:solidFill>
                      <a:prstDash val="solid"/>
                    </a:lnL>
                    <a:lnR w="7620">
                      <a:solidFill>
                        <a:srgbClr val="D9E0E8"/>
                      </a:solidFill>
                      <a:prstDash val="solid"/>
                    </a:lnR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−1.601 ± 1.254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0E8"/>
                      </a:solidFill>
                      <a:prstDash val="solid"/>
                    </a:lnR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76200" rIns="190500" bIns="762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82B42"/>
                          </a:solidFill>
                          <a:latin typeface="Arial"/>
                          <a:ea typeface="Arial"/>
                          <a:cs typeface="Arial"/>
                        </a:rPr>
                        <a:t>0.364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0E8"/>
                      </a:solidFill>
                      <a:prstDash val="solid"/>
                    </a:lnR>
                    <a:lnB w="7620">
                      <a:solidFill>
                        <a:srgbClr val="D9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note">
            <a:extLst xmlns:a="http://schemas.openxmlformats.org/drawingml/2006/main">
              <a:ext uri="{FF2B5EF4-FFF2-40B4-BE49-F238E27FC236}">
                <a16:creationId xmlns:a16="http://schemas.microsoft.com/office/drawing/2014/main" id="{A892BEE8-E82E-417F-9C59-25428449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24475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* В скобках — результат после Task 3.2: масштабно-инвариантный OPF и сопутствующие изменения лосса.</a:t>
            </a:r>
          </a:p>
        </p:txBody>
      </p:sp>
      <p:sp>
        <p:nvSpPr>
          <p:cNvPr id="5" name="caveat">
            <a:extLst xmlns:a="http://schemas.openxmlformats.org/drawingml/2006/main">
              <a:ext uri="{FF2B5EF4-FFF2-40B4-BE49-F238E27FC236}">
                <a16:creationId xmlns:a16="http://schemas.microsoft.com/office/drawing/2014/main" id="{1A8DBA64-D28A-4806-BA6E-ED55F9DD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Наклон: среднее ± SD по 5 сидам. R²: среднее. M1/M2 — наши контролируемые реализации.</a:t>
            </a:r>
          </a:p>
          <a:p xmlns:a="http://schemas.openxmlformats.org/drawingml/2006/main">
            <a:pPr>
              <a:defRPr sz="14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Источник: отчёты Task 3.1 и Task 3.2. Короткий T4_64 у M2 не проходит частотную проверку.</a:t>
            </a:r>
          </a:p>
        </p:txBody>
      </p:sp>
    </p:spTree>
    <p:extLst>
      <p:ext uri="{BB962C8B-B14F-4D97-AF65-F5344CB8AC3E}">
        <p14:creationId xmlns:p14="http://schemas.microsoft.com/office/powerpoint/2010/main" val="1065900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2026-10-16T00:16:02.7650000Z</dcterms:created>
  <dcterms:modified xsi:type="dcterms:W3CDTF">2026-10-16T00:16:02.7650000Z</dcterms:modified>
</coreProperties>
</file>